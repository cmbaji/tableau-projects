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M Sans Bold" charset="1" panose="00000000000000000000"/>
      <p:regular r:id="rId19"/>
    </p:embeddedFont>
    <p:embeddedFont>
      <p:font typeface="TT Hoves Bold" charset="1" panose="02000003020000060003"/>
      <p:regular r:id="rId20"/>
    </p:embeddedFont>
    <p:embeddedFont>
      <p:font typeface="Raleway Bold" charset="1" panose="020B0803030101060003"/>
      <p:regular r:id="rId21"/>
    </p:embeddedFont>
    <p:embeddedFont>
      <p:font typeface="Raleway" charset="1" panose="020B0503030101060003"/>
      <p:regular r:id="rId22"/>
    </p:embeddedFont>
    <p:embeddedFont>
      <p:font typeface="DM Sans" charset="1" panose="00000000000000000000"/>
      <p:regular r:id="rId23"/>
    </p:embeddedFont>
    <p:embeddedFont>
      <p:font typeface="Noto Serif Display Bold" charset="1" panose="02020802080505020204"/>
      <p:regular r:id="rId24"/>
    </p:embeddedFont>
    <p:embeddedFont>
      <p:font typeface="Noto Sans Bold" charset="1" panose="020B0802040504020204"/>
      <p:regular r:id="rId25"/>
    </p:embeddedFont>
    <p:embeddedFont>
      <p:font typeface="Raleway Heavy" charset="1" panose="020B00030301010600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86287" y="0"/>
            <a:ext cx="7498150" cy="10287000"/>
          </a:xfrm>
          <a:custGeom>
            <a:avLst/>
            <a:gdLst/>
            <a:ahLst/>
            <a:cxnLst/>
            <a:rect r="r" b="b" t="t" l="l"/>
            <a:pathLst>
              <a:path h="10287000" w="7498150">
                <a:moveTo>
                  <a:pt x="0" y="0"/>
                </a:moveTo>
                <a:lnTo>
                  <a:pt x="7498149" y="0"/>
                </a:lnTo>
                <a:lnTo>
                  <a:pt x="74981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00" t="0" r="-93419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514327" y="9678782"/>
            <a:ext cx="19078511" cy="0"/>
          </a:xfrm>
          <a:prstGeom prst="line">
            <a:avLst/>
          </a:prstGeom>
          <a:ln cap="flat" w="9525">
            <a:solidFill>
              <a:srgbClr val="1D1D1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260902" y="-333650"/>
            <a:ext cx="11747189" cy="10954300"/>
            <a:chOff x="0" y="0"/>
            <a:chExt cx="3093910" cy="28850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93910" cy="2885083"/>
            </a:xfrm>
            <a:custGeom>
              <a:avLst/>
              <a:gdLst/>
              <a:ahLst/>
              <a:cxnLst/>
              <a:rect r="r" b="b" t="t" l="l"/>
              <a:pathLst>
                <a:path h="2885083" w="3093910">
                  <a:moveTo>
                    <a:pt x="33611" y="0"/>
                  </a:moveTo>
                  <a:lnTo>
                    <a:pt x="3060298" y="0"/>
                  </a:lnTo>
                  <a:cubicBezTo>
                    <a:pt x="3078861" y="0"/>
                    <a:pt x="3093910" y="15048"/>
                    <a:pt x="3093910" y="33611"/>
                  </a:cubicBezTo>
                  <a:lnTo>
                    <a:pt x="3093910" y="2851472"/>
                  </a:lnTo>
                  <a:cubicBezTo>
                    <a:pt x="3093910" y="2870035"/>
                    <a:pt x="3078861" y="2885083"/>
                    <a:pt x="3060298" y="2885083"/>
                  </a:cubicBezTo>
                  <a:lnTo>
                    <a:pt x="33611" y="2885083"/>
                  </a:lnTo>
                  <a:cubicBezTo>
                    <a:pt x="15048" y="2885083"/>
                    <a:pt x="0" y="2870035"/>
                    <a:pt x="0" y="2851472"/>
                  </a:cubicBezTo>
                  <a:lnTo>
                    <a:pt x="0" y="33611"/>
                  </a:lnTo>
                  <a:cubicBezTo>
                    <a:pt x="0" y="15048"/>
                    <a:pt x="15048" y="0"/>
                    <a:pt x="33611" y="0"/>
                  </a:cubicBezTo>
                  <a:close/>
                </a:path>
              </a:pathLst>
            </a:custGeom>
            <a:solidFill>
              <a:srgbClr val="F1F1F1">
                <a:alpha val="8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093910" cy="2913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395256" y="9683545"/>
            <a:ext cx="19078511" cy="0"/>
          </a:xfrm>
          <a:prstGeom prst="line">
            <a:avLst/>
          </a:prstGeom>
          <a:ln cap="flat" w="9525">
            <a:solidFill>
              <a:srgbClr val="1D1D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41662" y="1095375"/>
            <a:ext cx="14312429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b="true" sz="3800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BUS 240F · INFORMATION VISUALIZATION </a:t>
            </a:r>
          </a:p>
          <a:p>
            <a:pPr algn="l">
              <a:lnSpc>
                <a:spcPts val="3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626037"/>
            <a:ext cx="5044406" cy="42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615" b="true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Instructor: Prof. Yeabin Moon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662" y="3305175"/>
            <a:ext cx="12093251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1F3864"/>
                </a:solidFill>
                <a:latin typeface="TT Hoves Bold"/>
                <a:ea typeface="TT Hoves Bold"/>
                <a:cs typeface="TT Hoves Bold"/>
                <a:sym typeface="TT Hoves Bold"/>
              </a:rPr>
              <a:t>POLICY SHOCK &amp;</a:t>
            </a:r>
          </a:p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1F3864"/>
                </a:solidFill>
                <a:latin typeface="TT Hoves Bold"/>
                <a:ea typeface="TT Hoves Bold"/>
                <a:cs typeface="TT Hoves Bold"/>
                <a:sym typeface="TT Hoves Bold"/>
              </a:rPr>
              <a:t>MOBILITY BEHAVIOR</a:t>
            </a:r>
          </a:p>
          <a:p>
            <a:pPr algn="l">
              <a:lnSpc>
                <a:spcPts val="96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89696" y="9816895"/>
            <a:ext cx="212241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Cecilia Pham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7478" y="9816895"/>
            <a:ext cx="275379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Chieloka Mbaji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7101" y="9816895"/>
            <a:ext cx="197497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Youxuan Guan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78688"/>
            <a:ext cx="16230600" cy="4295443"/>
            <a:chOff x="0" y="0"/>
            <a:chExt cx="4274726" cy="11313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31310"/>
            </a:xfrm>
            <a:custGeom>
              <a:avLst/>
              <a:gdLst/>
              <a:ahLst/>
              <a:cxnLst/>
              <a:rect r="r" b="b" t="t" l="l"/>
              <a:pathLst>
                <a:path h="113131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31310"/>
                  </a:lnTo>
                  <a:lnTo>
                    <a:pt x="0" y="113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274726" cy="1197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05584" y="1913265"/>
            <a:ext cx="7791859" cy="1130845"/>
            <a:chOff x="0" y="0"/>
            <a:chExt cx="10389145" cy="15077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638791" y="0"/>
              <a:ext cx="9111563" cy="1507793"/>
              <a:chOff x="0" y="0"/>
              <a:chExt cx="1799815" cy="29783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99815" cy="297836"/>
              </a:xfrm>
              <a:custGeom>
                <a:avLst/>
                <a:gdLst/>
                <a:ahLst/>
                <a:cxnLst/>
                <a:rect r="r" b="b" t="t" l="l"/>
                <a:pathLst>
                  <a:path h="297836" w="1799815">
                    <a:moveTo>
                      <a:pt x="57778" y="0"/>
                    </a:moveTo>
                    <a:lnTo>
                      <a:pt x="1742037" y="0"/>
                    </a:lnTo>
                    <a:cubicBezTo>
                      <a:pt x="1773947" y="0"/>
                      <a:pt x="1799815" y="25868"/>
                      <a:pt x="1799815" y="57778"/>
                    </a:cubicBezTo>
                    <a:lnTo>
                      <a:pt x="1799815" y="240057"/>
                    </a:lnTo>
                    <a:cubicBezTo>
                      <a:pt x="1799815" y="271968"/>
                      <a:pt x="1773947" y="297836"/>
                      <a:pt x="1742037" y="297836"/>
                    </a:cubicBezTo>
                    <a:lnTo>
                      <a:pt x="57778" y="297836"/>
                    </a:lnTo>
                    <a:cubicBezTo>
                      <a:pt x="25868" y="297836"/>
                      <a:pt x="0" y="271968"/>
                      <a:pt x="0" y="240057"/>
                    </a:cubicBezTo>
                    <a:lnTo>
                      <a:pt x="0" y="57778"/>
                    </a:lnTo>
                    <a:cubicBezTo>
                      <a:pt x="0" y="25868"/>
                      <a:pt x="25868" y="0"/>
                      <a:pt x="57778" y="0"/>
                    </a:cubicBezTo>
                    <a:close/>
                  </a:path>
                </a:pathLst>
              </a:custGeom>
              <a:solidFill>
                <a:srgbClr val="1F386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799815" cy="3645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F0B645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RESEARCH QUESTION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2203"/>
              <a:ext cx="638791" cy="1263386"/>
              <a:chOff x="0" y="0"/>
              <a:chExt cx="126181" cy="24955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6181" cy="249558"/>
              </a:xfrm>
              <a:custGeom>
                <a:avLst/>
                <a:gdLst/>
                <a:ahLst/>
                <a:cxnLst/>
                <a:rect r="r" b="b" t="t" l="l"/>
                <a:pathLst>
                  <a:path h="249558" w="126181">
                    <a:moveTo>
                      <a:pt x="0" y="0"/>
                    </a:moveTo>
                    <a:lnTo>
                      <a:pt x="126181" y="0"/>
                    </a:lnTo>
                    <a:lnTo>
                      <a:pt x="126181" y="249558"/>
                    </a:lnTo>
                    <a:lnTo>
                      <a:pt x="0" y="249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66675"/>
                <a:ext cx="126181" cy="3162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9750354" y="244407"/>
              <a:ext cx="638791" cy="1263386"/>
              <a:chOff x="0" y="0"/>
              <a:chExt cx="126181" cy="24955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6181" cy="249558"/>
              </a:xfrm>
              <a:custGeom>
                <a:avLst/>
                <a:gdLst/>
                <a:ahLst/>
                <a:cxnLst/>
                <a:rect r="r" b="b" t="t" l="l"/>
                <a:pathLst>
                  <a:path h="249558" w="126181">
                    <a:moveTo>
                      <a:pt x="0" y="0"/>
                    </a:moveTo>
                    <a:lnTo>
                      <a:pt x="126181" y="0"/>
                    </a:lnTo>
                    <a:lnTo>
                      <a:pt x="126181" y="249558"/>
                    </a:lnTo>
                    <a:lnTo>
                      <a:pt x="0" y="249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126181" cy="3162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2261998" y="3823712"/>
            <a:ext cx="13764004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DID R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NT </a:t>
            </a:r>
            <a:r>
              <a:rPr lang="en-US" b="true" sz="2999" spc="599">
                <a:solidFill>
                  <a:srgbClr val="9B2121"/>
                </a:solidFill>
                <a:latin typeface="Raleway Bold"/>
                <a:ea typeface="Raleway Bold"/>
                <a:cs typeface="Raleway Bold"/>
                <a:sym typeface="Raleway Bold"/>
              </a:rPr>
              <a:t>H-1B POLICY CHANGES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 AF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EC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 MO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BILITY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 PATTERNS AROUND MAJOR TECH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EMPLOYE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S AND UNIV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RSI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999" spc="599">
                <a:solidFill>
                  <a:srgbClr val="1D1D1F"/>
                </a:solidFill>
                <a:latin typeface="Raleway"/>
                <a:ea typeface="Raleway"/>
                <a:cs typeface="Raleway"/>
                <a:sym typeface="Raleway"/>
              </a:rPr>
              <a:t>IES IN THE BOSTON AREA?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6119635" y="5787813"/>
            <a:ext cx="626978" cy="411525"/>
          </a:xfrm>
          <a:custGeom>
            <a:avLst/>
            <a:gdLst/>
            <a:ahLst/>
            <a:cxnLst/>
            <a:rect r="r" b="b" t="t" l="l"/>
            <a:pathLst>
              <a:path h="411525" w="626978">
                <a:moveTo>
                  <a:pt x="626977" y="0"/>
                </a:moveTo>
                <a:lnTo>
                  <a:pt x="0" y="0"/>
                </a:lnTo>
                <a:lnTo>
                  <a:pt x="0" y="411525"/>
                </a:lnTo>
                <a:lnTo>
                  <a:pt x="626977" y="411525"/>
                </a:lnTo>
                <a:lnTo>
                  <a:pt x="626977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10800000">
            <a:off x="1402879" y="3469337"/>
            <a:ext cx="626978" cy="411525"/>
          </a:xfrm>
          <a:custGeom>
            <a:avLst/>
            <a:gdLst/>
            <a:ahLst/>
            <a:cxnLst/>
            <a:rect r="r" b="b" t="t" l="l"/>
            <a:pathLst>
              <a:path h="411525" w="626978">
                <a:moveTo>
                  <a:pt x="626978" y="0"/>
                </a:moveTo>
                <a:lnTo>
                  <a:pt x="0" y="0"/>
                </a:lnTo>
                <a:lnTo>
                  <a:pt x="0" y="411525"/>
                </a:lnTo>
                <a:lnTo>
                  <a:pt x="626978" y="411525"/>
                </a:lnTo>
                <a:lnTo>
                  <a:pt x="626978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3925" y="8899419"/>
            <a:ext cx="1025375" cy="717763"/>
          </a:xfrm>
          <a:custGeom>
            <a:avLst/>
            <a:gdLst/>
            <a:ahLst/>
            <a:cxnLst/>
            <a:rect r="r" b="b" t="t" l="l"/>
            <a:pathLst>
              <a:path h="717763" w="1025375">
                <a:moveTo>
                  <a:pt x="0" y="0"/>
                </a:moveTo>
                <a:lnTo>
                  <a:pt x="1025375" y="0"/>
                </a:lnTo>
                <a:lnTo>
                  <a:pt x="1025375" y="717762"/>
                </a:lnTo>
                <a:lnTo>
                  <a:pt x="0" y="717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156118" y="9258300"/>
            <a:ext cx="769873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1F38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0278" y="1746077"/>
            <a:ext cx="15707444" cy="8540923"/>
          </a:xfrm>
          <a:custGeom>
            <a:avLst/>
            <a:gdLst/>
            <a:ahLst/>
            <a:cxnLst/>
            <a:rect r="r" b="b" t="t" l="l"/>
            <a:pathLst>
              <a:path h="8540923" w="15707444">
                <a:moveTo>
                  <a:pt x="0" y="0"/>
                </a:moveTo>
                <a:lnTo>
                  <a:pt x="15707444" y="0"/>
                </a:lnTo>
                <a:lnTo>
                  <a:pt x="15707444" y="8540923"/>
                </a:lnTo>
                <a:lnTo>
                  <a:pt x="0" y="854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3957" y="368257"/>
            <a:ext cx="10259918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1F38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989876"/>
            <a:ext cx="18288000" cy="7886700"/>
          </a:xfrm>
          <a:custGeom>
            <a:avLst/>
            <a:gdLst/>
            <a:ahLst/>
            <a:cxnLst/>
            <a:rect r="r" b="b" t="t" l="l"/>
            <a:pathLst>
              <a:path h="7886700" w="18288000">
                <a:moveTo>
                  <a:pt x="0" y="0"/>
                </a:moveTo>
                <a:lnTo>
                  <a:pt x="18288000" y="0"/>
                </a:lnTo>
                <a:lnTo>
                  <a:pt x="18288000" y="7886700"/>
                </a:lnTo>
                <a:lnTo>
                  <a:pt x="0" y="788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3957" y="368257"/>
            <a:ext cx="10259918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29522" y="7118139"/>
            <a:ext cx="6986098" cy="1088640"/>
            <a:chOff x="0" y="0"/>
            <a:chExt cx="1962487" cy="3058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2487" cy="305813"/>
            </a:xfrm>
            <a:custGeom>
              <a:avLst/>
              <a:gdLst/>
              <a:ahLst/>
              <a:cxnLst/>
              <a:rect r="r" b="b" t="t" l="l"/>
              <a:pathLst>
                <a:path h="305813" w="1962487">
                  <a:moveTo>
                    <a:pt x="0" y="0"/>
                  </a:moveTo>
                  <a:lnTo>
                    <a:pt x="1962487" y="0"/>
                  </a:lnTo>
                  <a:lnTo>
                    <a:pt x="1962487" y="305813"/>
                  </a:lnTo>
                  <a:lnTo>
                    <a:pt x="0" y="305813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62487" cy="362963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310" y="1746077"/>
            <a:ext cx="9258453" cy="8540923"/>
          </a:xfrm>
          <a:custGeom>
            <a:avLst/>
            <a:gdLst/>
            <a:ahLst/>
            <a:cxnLst/>
            <a:rect r="r" b="b" t="t" l="l"/>
            <a:pathLst>
              <a:path h="8540923" w="9258453">
                <a:moveTo>
                  <a:pt x="0" y="0"/>
                </a:moveTo>
                <a:lnTo>
                  <a:pt x="9258453" y="0"/>
                </a:lnTo>
                <a:lnTo>
                  <a:pt x="9258453" y="8540923"/>
                </a:lnTo>
                <a:lnTo>
                  <a:pt x="0" y="854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029522" y="2420389"/>
            <a:ext cx="6986098" cy="4112240"/>
            <a:chOff x="0" y="0"/>
            <a:chExt cx="1839960" cy="10830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960" cy="1083059"/>
            </a:xfrm>
            <a:custGeom>
              <a:avLst/>
              <a:gdLst/>
              <a:ahLst/>
              <a:cxnLst/>
              <a:rect r="r" b="b" t="t" l="l"/>
              <a:pathLst>
                <a:path h="1083059" w="1839960">
                  <a:moveTo>
                    <a:pt x="0" y="0"/>
                  </a:moveTo>
                  <a:lnTo>
                    <a:pt x="1839960" y="0"/>
                  </a:lnTo>
                  <a:lnTo>
                    <a:pt x="1839960" y="1083059"/>
                  </a:lnTo>
                  <a:lnTo>
                    <a:pt x="0" y="1083059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39960" cy="1102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43957" y="368257"/>
            <a:ext cx="11390673" cy="17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Logan International Airport (BOS)</a:t>
            </a:r>
          </a:p>
          <a:p>
            <a:pPr algn="l">
              <a:lnSpc>
                <a:spcPts val="719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65943" y="1850774"/>
            <a:ext cx="7393357" cy="4681855"/>
            <a:chOff x="0" y="0"/>
            <a:chExt cx="9857809" cy="624247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9857809" cy="6261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80"/>
                </a:lnSpc>
              </a:pPr>
            </a:p>
            <a:p>
              <a:pPr algn="just">
                <a:lnSpc>
                  <a:spcPts val="3380"/>
                </a:lnSpc>
              </a:pP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verall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m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onthl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y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600" spc="62">
                  <a:solidFill>
                    <a:srgbClr val="760101"/>
                  </a:solidFill>
                  <a:latin typeface="DM Sans"/>
                  <a:ea typeface="DM Sans"/>
                  <a:cs typeface="DM Sans"/>
                  <a:sym typeface="DM Sans"/>
                </a:rPr>
                <a:t>dec</a:t>
              </a:r>
              <a:r>
                <a:rPr lang="en-US" sz="2600" spc="62">
                  <a:solidFill>
                    <a:srgbClr val="760101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2600" spc="62">
                  <a:solidFill>
                    <a:srgbClr val="760101"/>
                  </a:solidFill>
                  <a:latin typeface="DM Sans"/>
                  <a:ea typeface="DM Sans"/>
                  <a:cs typeface="DM Sans"/>
                  <a:sym typeface="DM Sans"/>
                </a:rPr>
                <a:t>ines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:  </a:t>
              </a:r>
            </a:p>
            <a:p>
              <a:pPr algn="l" marL="1122684" indent="-374228" lvl="2">
                <a:lnSpc>
                  <a:spcPts val="3380"/>
                </a:lnSpc>
                <a:buFont typeface="Arial"/>
                <a:buChar char="⚬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Visits down  </a:t>
              </a:r>
            </a:p>
            <a:p>
              <a:pPr algn="l" marL="1122684" indent="-374228" lvl="2">
                <a:lnSpc>
                  <a:spcPts val="3380"/>
                </a:lnSpc>
                <a:buFont typeface="Arial"/>
                <a:buChar char="⚬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Unique visito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 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dow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 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Dwell time ~ unchanged both year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For the weekly changes, Weeks 1 and 2 have a slight boost in 2026. This likely due to pre booked trips. 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However in Weeks 3 and 4, we can see sharp declines of about -11.7% and -5.3%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163715" y="1635337"/>
              <a:ext cx="308477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4B0E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3.2%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49540" y="2200910"/>
              <a:ext cx="308477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4B0E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3.6%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97231" y="7363498"/>
            <a:ext cx="6342838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Declin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in traveler volume, while 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ravel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eh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remained u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nch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90736" y="7302414"/>
            <a:ext cx="8351030" cy="2006570"/>
            <a:chOff x="0" y="0"/>
            <a:chExt cx="2345915" cy="563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5915" cy="563672"/>
            </a:xfrm>
            <a:custGeom>
              <a:avLst/>
              <a:gdLst/>
              <a:ahLst/>
              <a:cxnLst/>
              <a:rect r="r" b="b" t="t" l="l"/>
              <a:pathLst>
                <a:path h="563672" w="2345915">
                  <a:moveTo>
                    <a:pt x="0" y="0"/>
                  </a:moveTo>
                  <a:lnTo>
                    <a:pt x="2345915" y="0"/>
                  </a:lnTo>
                  <a:lnTo>
                    <a:pt x="2345915" y="563672"/>
                  </a:lnTo>
                  <a:lnTo>
                    <a:pt x="0" y="563672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45915" cy="620822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746077"/>
            <a:ext cx="9283612" cy="8540923"/>
          </a:xfrm>
          <a:custGeom>
            <a:avLst/>
            <a:gdLst/>
            <a:ahLst/>
            <a:cxnLst/>
            <a:rect r="r" b="b" t="t" l="l"/>
            <a:pathLst>
              <a:path h="8540923" w="9283612">
                <a:moveTo>
                  <a:pt x="0" y="0"/>
                </a:moveTo>
                <a:lnTo>
                  <a:pt x="9283612" y="0"/>
                </a:lnTo>
                <a:lnTo>
                  <a:pt x="9283612" y="8540923"/>
                </a:lnTo>
                <a:lnTo>
                  <a:pt x="0" y="854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3957" y="368257"/>
            <a:ext cx="11390673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Amtrak / S</a:t>
            </a: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outh Station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90736" y="2562095"/>
            <a:ext cx="8351030" cy="4740318"/>
            <a:chOff x="0" y="0"/>
            <a:chExt cx="2199448" cy="12484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9448" cy="1248479"/>
            </a:xfrm>
            <a:custGeom>
              <a:avLst/>
              <a:gdLst/>
              <a:ahLst/>
              <a:cxnLst/>
              <a:rect r="r" b="b" t="t" l="l"/>
              <a:pathLst>
                <a:path h="1248479" w="2199448">
                  <a:moveTo>
                    <a:pt x="0" y="0"/>
                  </a:moveTo>
                  <a:lnTo>
                    <a:pt x="2199448" y="0"/>
                  </a:lnTo>
                  <a:lnTo>
                    <a:pt x="2199448" y="1248479"/>
                  </a:lnTo>
                  <a:lnTo>
                    <a:pt x="0" y="1248479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99448" cy="126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25893" y="2191934"/>
            <a:ext cx="7393357" cy="5110480"/>
            <a:chOff x="0" y="0"/>
            <a:chExt cx="9857809" cy="681397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9857809" cy="6833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80"/>
                </a:lnSpc>
              </a:pPr>
            </a:p>
            <a:p>
              <a:pPr algn="just">
                <a:lnSpc>
                  <a:spcPts val="3380"/>
                </a:lnSpc>
              </a:pP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verall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m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onthl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y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600" spc="62">
                  <a:solidFill>
                    <a:srgbClr val="760101"/>
                  </a:solidFill>
                  <a:latin typeface="DM Sans"/>
                  <a:ea typeface="DM Sans"/>
                  <a:cs typeface="DM Sans"/>
                  <a:sym typeface="DM Sans"/>
                </a:rPr>
                <a:t>increses</a:t>
              </a: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:  </a:t>
              </a:r>
            </a:p>
            <a:p>
              <a:pPr algn="l" marL="1122684" indent="-374228" lvl="2">
                <a:lnSpc>
                  <a:spcPts val="3380"/>
                </a:lnSpc>
                <a:buFont typeface="Arial"/>
                <a:buChar char="⚬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               in visits  </a:t>
              </a:r>
            </a:p>
            <a:p>
              <a:pPr algn="l" marL="1122684" indent="-374228" lvl="2">
                <a:lnSpc>
                  <a:spcPts val="3380"/>
                </a:lnSpc>
                <a:buFont typeface="Arial"/>
                <a:buChar char="⚬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               in unique visitors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All four weeks of January 2026 exceed January 2025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Visits‑to‑visitors ratio remains stable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Median dwell time decreased 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Here as well, we can see that 2026 has wild declines for the visit and visitor counts.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37808" y="1635337"/>
              <a:ext cx="308477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4B0E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+ 19.8%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37808" y="2204108"/>
              <a:ext cx="308477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4B0E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+20.5%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590736" y="7565254"/>
            <a:ext cx="8351030" cy="212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sustain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month‑long uplif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rath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 a one‑week anomaly.</a:t>
            </a:r>
          </a:p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rail passenger base genuinely expanded.</a:t>
            </a:r>
          </a:p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2026 riders were more purposeful and efficient  </a:t>
            </a:r>
          </a:p>
          <a:p>
            <a:pPr algn="l">
              <a:lnSpc>
                <a:spcPts val="33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45381" y="3513975"/>
            <a:ext cx="9613919" cy="1300470"/>
            <a:chOff x="0" y="0"/>
            <a:chExt cx="2700677" cy="365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0677" cy="365319"/>
            </a:xfrm>
            <a:custGeom>
              <a:avLst/>
              <a:gdLst/>
              <a:ahLst/>
              <a:cxnLst/>
              <a:rect r="r" b="b" t="t" l="l"/>
              <a:pathLst>
                <a:path h="365319" w="2700677">
                  <a:moveTo>
                    <a:pt x="0" y="0"/>
                  </a:moveTo>
                  <a:lnTo>
                    <a:pt x="2700677" y="0"/>
                  </a:lnTo>
                  <a:lnTo>
                    <a:pt x="2700677" y="365319"/>
                  </a:lnTo>
                  <a:lnTo>
                    <a:pt x="0" y="365319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00677" cy="422469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45381" y="5356182"/>
            <a:ext cx="9613919" cy="2412832"/>
            <a:chOff x="0" y="0"/>
            <a:chExt cx="2532061" cy="635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2061" cy="635478"/>
            </a:xfrm>
            <a:custGeom>
              <a:avLst/>
              <a:gdLst/>
              <a:ahLst/>
              <a:cxnLst/>
              <a:rect r="r" b="b" t="t" l="l"/>
              <a:pathLst>
                <a:path h="635478" w="2532061">
                  <a:moveTo>
                    <a:pt x="0" y="0"/>
                  </a:moveTo>
                  <a:lnTo>
                    <a:pt x="2532061" y="0"/>
                  </a:lnTo>
                  <a:lnTo>
                    <a:pt x="2532061" y="635478"/>
                  </a:lnTo>
                  <a:lnTo>
                    <a:pt x="0" y="635478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532061" cy="654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1746077"/>
            <a:ext cx="7366546" cy="8540923"/>
          </a:xfrm>
          <a:custGeom>
            <a:avLst/>
            <a:gdLst/>
            <a:ahLst/>
            <a:cxnLst/>
            <a:rect r="r" b="b" t="t" l="l"/>
            <a:pathLst>
              <a:path h="8540923" w="7366546">
                <a:moveTo>
                  <a:pt x="0" y="0"/>
                </a:moveTo>
                <a:lnTo>
                  <a:pt x="7366546" y="0"/>
                </a:lnTo>
                <a:lnTo>
                  <a:pt x="7366546" y="8540923"/>
                </a:lnTo>
                <a:lnTo>
                  <a:pt x="0" y="854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43957" y="368257"/>
            <a:ext cx="11390673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Comparison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96095" y="3673981"/>
            <a:ext cx="9363205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modal substi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tution: </a:t>
            </a:r>
          </a:p>
          <a:p>
            <a:pPr algn="l">
              <a:lnSpc>
                <a:spcPts val="3380"/>
              </a:lnSpc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ravel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ers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hifti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ng from international air to domestic rail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45381" y="5683198"/>
            <a:ext cx="7739174" cy="17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Consis</a:t>
            </a:r>
            <a:r>
              <a:rPr lang="en-US" sz="2600" spc="62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tent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with visa‑related unc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ertai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nty: </a:t>
            </a:r>
          </a:p>
          <a:p>
            <a:pPr algn="l" marL="1122684" indent="-374228" lvl="2">
              <a:lnSpc>
                <a:spcPts val="3380"/>
              </a:lnSpc>
              <a:buFont typeface="Arial"/>
              <a:buChar char="⚬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Fewer international trips </a:t>
            </a:r>
          </a:p>
          <a:p>
            <a:pPr algn="l" marL="1122684" indent="-374228" lvl="2">
              <a:lnSpc>
                <a:spcPts val="3380"/>
              </a:lnSpc>
              <a:buFont typeface="Arial"/>
              <a:buChar char="⚬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Domestic mobility maintained along the Northeast Corridor (Boston–NYC–DC)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55079" y="6911889"/>
            <a:ext cx="8504221" cy="2006570"/>
            <a:chOff x="0" y="0"/>
            <a:chExt cx="2388948" cy="563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8948" cy="563672"/>
            </a:xfrm>
            <a:custGeom>
              <a:avLst/>
              <a:gdLst/>
              <a:ahLst/>
              <a:cxnLst/>
              <a:rect r="r" b="b" t="t" l="l"/>
              <a:pathLst>
                <a:path h="563672" w="2388948">
                  <a:moveTo>
                    <a:pt x="0" y="0"/>
                  </a:moveTo>
                  <a:lnTo>
                    <a:pt x="2388948" y="0"/>
                  </a:lnTo>
                  <a:lnTo>
                    <a:pt x="2388948" y="563672"/>
                  </a:lnTo>
                  <a:lnTo>
                    <a:pt x="0" y="563672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88948" cy="620822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746077"/>
            <a:ext cx="8391457" cy="8540923"/>
          </a:xfrm>
          <a:custGeom>
            <a:avLst/>
            <a:gdLst/>
            <a:ahLst/>
            <a:cxnLst/>
            <a:rect r="r" b="b" t="t" l="l"/>
            <a:pathLst>
              <a:path h="8540923" w="8391457">
                <a:moveTo>
                  <a:pt x="0" y="0"/>
                </a:moveTo>
                <a:lnTo>
                  <a:pt x="8391457" y="0"/>
                </a:lnTo>
                <a:lnTo>
                  <a:pt x="8391457" y="8540923"/>
                </a:lnTo>
                <a:lnTo>
                  <a:pt x="0" y="854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3957" y="368257"/>
            <a:ext cx="13438364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MBTA Bus Stop - Broadway, Cambridge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1674" y="7055384"/>
            <a:ext cx="8351030" cy="17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Daily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commut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ers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continued their routines despite broader travel shifts</a:t>
            </a:r>
          </a:p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key stabilizing signal → Prevents over‑interpreting BOS and Amtrak trends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55079" y="2562095"/>
            <a:ext cx="8504221" cy="3902118"/>
            <a:chOff x="0" y="0"/>
            <a:chExt cx="2239795" cy="10277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9795" cy="1027718"/>
            </a:xfrm>
            <a:custGeom>
              <a:avLst/>
              <a:gdLst/>
              <a:ahLst/>
              <a:cxnLst/>
              <a:rect r="r" b="b" t="t" l="l"/>
              <a:pathLst>
                <a:path h="1027718" w="2239795">
                  <a:moveTo>
                    <a:pt x="0" y="0"/>
                  </a:moveTo>
                  <a:lnTo>
                    <a:pt x="2239795" y="0"/>
                  </a:lnTo>
                  <a:lnTo>
                    <a:pt x="2239795" y="1027718"/>
                  </a:lnTo>
                  <a:lnTo>
                    <a:pt x="0" y="1027718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239795" cy="104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872657" y="2172884"/>
            <a:ext cx="8115873" cy="384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0"/>
              </a:lnSpc>
            </a:pPr>
          </a:p>
          <a:p>
            <a:pPr algn="just">
              <a:lnSpc>
                <a:spcPts val="3380"/>
              </a:lnSpc>
            </a:pPr>
          </a:p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Visit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ounts </a:t>
            </a:r>
            <a:r>
              <a:rPr lang="en-US" sz="2600" spc="62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declined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only</a:t>
            </a:r>
          </a:p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Median dwell time</a:t>
            </a:r>
            <a:r>
              <a:rPr lang="en-US" sz="2600" spc="62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 increased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by</a:t>
            </a:r>
          </a:p>
          <a:p>
            <a:pPr algn="l" marL="1122684" indent="-374228" lvl="2">
              <a:lnSpc>
                <a:spcPts val="3380"/>
              </a:lnSpc>
              <a:buFont typeface="Arial"/>
              <a:buChar char="⚬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Plausible explanations:</a:t>
            </a:r>
          </a:p>
          <a:p>
            <a:pPr algn="l" marL="1684026" indent="-421007" lvl="3">
              <a:lnSpc>
                <a:spcPts val="3380"/>
              </a:lnSpc>
              <a:buFont typeface="Arial"/>
              <a:buChar char="￭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educed service frequency or capacity constraints</a:t>
            </a:r>
          </a:p>
          <a:p>
            <a:pPr algn="l" marL="1684026" indent="-421007" lvl="3">
              <a:lnSpc>
                <a:spcPts val="3380"/>
              </a:lnSpc>
              <a:buFont typeface="Arial"/>
              <a:buChar char="￭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Shift in user mix, with different types of riders spending more time at the stop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30594" y="2980488"/>
            <a:ext cx="231358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24B0E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1.6%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29085" y="3404669"/>
            <a:ext cx="231358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24B0E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25.2%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3957" y="2053536"/>
            <a:ext cx="6424672" cy="6303678"/>
            <a:chOff x="0" y="0"/>
            <a:chExt cx="2496690" cy="2449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6690" cy="2449670"/>
            </a:xfrm>
            <a:custGeom>
              <a:avLst/>
              <a:gdLst/>
              <a:ahLst/>
              <a:cxnLst/>
              <a:rect r="r" b="b" t="t" l="l"/>
              <a:pathLst>
                <a:path h="2449670" w="2496690">
                  <a:moveTo>
                    <a:pt x="0" y="0"/>
                  </a:moveTo>
                  <a:lnTo>
                    <a:pt x="2496690" y="0"/>
                  </a:lnTo>
                  <a:lnTo>
                    <a:pt x="2496690" y="2449670"/>
                  </a:lnTo>
                  <a:lnTo>
                    <a:pt x="0" y="24496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496690" cy="2516345"/>
            </a:xfrm>
            <a:prstGeom prst="rect">
              <a:avLst/>
            </a:prstGeom>
          </p:spPr>
          <p:txBody>
            <a:bodyPr anchor="ctr" rtlCol="false" tIns="43333" lIns="43333" bIns="43333" rIns="43333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6635" y="8560569"/>
            <a:ext cx="7952665" cy="1560938"/>
            <a:chOff x="0" y="0"/>
            <a:chExt cx="2234009" cy="438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4009" cy="438488"/>
            </a:xfrm>
            <a:custGeom>
              <a:avLst/>
              <a:gdLst/>
              <a:ahLst/>
              <a:cxnLst/>
              <a:rect r="r" b="b" t="t" l="l"/>
              <a:pathLst>
                <a:path h="438488" w="2234009">
                  <a:moveTo>
                    <a:pt x="0" y="0"/>
                  </a:moveTo>
                  <a:lnTo>
                    <a:pt x="2234009" y="0"/>
                  </a:lnTo>
                  <a:lnTo>
                    <a:pt x="2234009" y="438488"/>
                  </a:lnTo>
                  <a:lnTo>
                    <a:pt x="0" y="438488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34009" cy="495638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70632" y="2053536"/>
            <a:ext cx="6424672" cy="6303678"/>
            <a:chOff x="0" y="0"/>
            <a:chExt cx="2496690" cy="2449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6690" cy="2449670"/>
            </a:xfrm>
            <a:custGeom>
              <a:avLst/>
              <a:gdLst/>
              <a:ahLst/>
              <a:cxnLst/>
              <a:rect r="r" b="b" t="t" l="l"/>
              <a:pathLst>
                <a:path h="2449670" w="2496690">
                  <a:moveTo>
                    <a:pt x="0" y="0"/>
                  </a:moveTo>
                  <a:lnTo>
                    <a:pt x="2496690" y="0"/>
                  </a:lnTo>
                  <a:lnTo>
                    <a:pt x="2496690" y="2449670"/>
                  </a:lnTo>
                  <a:lnTo>
                    <a:pt x="0" y="24496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496690" cy="2516345"/>
            </a:xfrm>
            <a:prstGeom prst="rect">
              <a:avLst/>
            </a:prstGeom>
          </p:spPr>
          <p:txBody>
            <a:bodyPr anchor="ctr" rtlCol="false" tIns="43333" lIns="43333" bIns="43333" rIns="43333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299397" y="2240880"/>
            <a:ext cx="4713793" cy="6002034"/>
          </a:xfrm>
          <a:custGeom>
            <a:avLst/>
            <a:gdLst/>
            <a:ahLst/>
            <a:cxnLst/>
            <a:rect r="r" b="b" t="t" l="l"/>
            <a:pathLst>
              <a:path h="6002034" w="4713793">
                <a:moveTo>
                  <a:pt x="0" y="0"/>
                </a:moveTo>
                <a:lnTo>
                  <a:pt x="4713792" y="0"/>
                </a:lnTo>
                <a:lnTo>
                  <a:pt x="4713792" y="6002034"/>
                </a:lnTo>
                <a:lnTo>
                  <a:pt x="0" y="600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603301" y="2140991"/>
            <a:ext cx="5359333" cy="6151315"/>
          </a:xfrm>
          <a:custGeom>
            <a:avLst/>
            <a:gdLst/>
            <a:ahLst/>
            <a:cxnLst/>
            <a:rect r="r" b="b" t="t" l="l"/>
            <a:pathLst>
              <a:path h="6151315" w="5359333">
                <a:moveTo>
                  <a:pt x="0" y="0"/>
                </a:moveTo>
                <a:lnTo>
                  <a:pt x="5359333" y="0"/>
                </a:lnTo>
                <a:lnTo>
                  <a:pt x="5359333" y="6151314"/>
                </a:lnTo>
                <a:lnTo>
                  <a:pt x="0" y="6151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43957" y="368257"/>
            <a:ext cx="12907795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University dormitories and housing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8852514"/>
            <a:ext cx="7269651" cy="836295"/>
            <a:chOff x="0" y="0"/>
            <a:chExt cx="9692868" cy="111506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963"/>
              <a:ext cx="9692868" cy="1118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Boston:            in visit counts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Cambridge: increased in unique visitors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458230" y="-57150"/>
              <a:ext cx="308477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4B0E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-6.3%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06635" y="8684126"/>
            <a:ext cx="7952665" cy="127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Seasonal patterns match across years</a:t>
            </a:r>
          </a:p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change in resident composition, rather than a straightforward increase in occupancy.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8560569"/>
            <a:ext cx="7269651" cy="1395462"/>
            <a:chOff x="0" y="0"/>
            <a:chExt cx="1914641" cy="3675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14640" cy="367529"/>
            </a:xfrm>
            <a:custGeom>
              <a:avLst/>
              <a:gdLst/>
              <a:ahLst/>
              <a:cxnLst/>
              <a:rect r="r" b="b" t="t" l="l"/>
              <a:pathLst>
                <a:path h="367529" w="1914640">
                  <a:moveTo>
                    <a:pt x="0" y="0"/>
                  </a:moveTo>
                  <a:lnTo>
                    <a:pt x="1914640" y="0"/>
                  </a:lnTo>
                  <a:lnTo>
                    <a:pt x="1914640" y="367529"/>
                  </a:lnTo>
                  <a:lnTo>
                    <a:pt x="0" y="367529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914641" cy="38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1189" y="1935347"/>
            <a:ext cx="6424672" cy="6421867"/>
            <a:chOff x="0" y="0"/>
            <a:chExt cx="2496690" cy="249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6690" cy="2495600"/>
            </a:xfrm>
            <a:custGeom>
              <a:avLst/>
              <a:gdLst/>
              <a:ahLst/>
              <a:cxnLst/>
              <a:rect r="r" b="b" t="t" l="l"/>
              <a:pathLst>
                <a:path h="2495600" w="2496690">
                  <a:moveTo>
                    <a:pt x="0" y="0"/>
                  </a:moveTo>
                  <a:lnTo>
                    <a:pt x="2496690" y="0"/>
                  </a:lnTo>
                  <a:lnTo>
                    <a:pt x="2496690" y="2495600"/>
                  </a:lnTo>
                  <a:lnTo>
                    <a:pt x="0" y="24956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496690" cy="2562275"/>
            </a:xfrm>
            <a:prstGeom prst="rect">
              <a:avLst/>
            </a:prstGeom>
          </p:spPr>
          <p:txBody>
            <a:bodyPr anchor="ctr" rtlCol="false" tIns="43333" lIns="43333" bIns="43333" rIns="43333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6635" y="8754248"/>
            <a:ext cx="7705529" cy="1032828"/>
            <a:chOff x="0" y="0"/>
            <a:chExt cx="2164585" cy="290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4585" cy="290135"/>
            </a:xfrm>
            <a:custGeom>
              <a:avLst/>
              <a:gdLst/>
              <a:ahLst/>
              <a:cxnLst/>
              <a:rect r="r" b="b" t="t" l="l"/>
              <a:pathLst>
                <a:path h="290135" w="2164585">
                  <a:moveTo>
                    <a:pt x="0" y="0"/>
                  </a:moveTo>
                  <a:lnTo>
                    <a:pt x="2164585" y="0"/>
                  </a:lnTo>
                  <a:lnTo>
                    <a:pt x="2164585" y="290135"/>
                  </a:lnTo>
                  <a:lnTo>
                    <a:pt x="0" y="290135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64585" cy="347285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70632" y="1935347"/>
            <a:ext cx="6424672" cy="6421867"/>
            <a:chOff x="0" y="0"/>
            <a:chExt cx="2496690" cy="249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6690" cy="2495600"/>
            </a:xfrm>
            <a:custGeom>
              <a:avLst/>
              <a:gdLst/>
              <a:ahLst/>
              <a:cxnLst/>
              <a:rect r="r" b="b" t="t" l="l"/>
              <a:pathLst>
                <a:path h="2495600" w="2496690">
                  <a:moveTo>
                    <a:pt x="0" y="0"/>
                  </a:moveTo>
                  <a:lnTo>
                    <a:pt x="2496690" y="0"/>
                  </a:lnTo>
                  <a:lnTo>
                    <a:pt x="2496690" y="2495600"/>
                  </a:lnTo>
                  <a:lnTo>
                    <a:pt x="0" y="24956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496690" cy="2562275"/>
            </a:xfrm>
            <a:prstGeom prst="rect">
              <a:avLst/>
            </a:prstGeom>
          </p:spPr>
          <p:txBody>
            <a:bodyPr anchor="ctr" rtlCol="false" tIns="43333" lIns="43333" bIns="43333" rIns="43333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8560569"/>
            <a:ext cx="7269651" cy="1395462"/>
            <a:chOff x="0" y="0"/>
            <a:chExt cx="1914641" cy="3675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14640" cy="367529"/>
            </a:xfrm>
            <a:custGeom>
              <a:avLst/>
              <a:gdLst/>
              <a:ahLst/>
              <a:cxnLst/>
              <a:rect r="r" b="b" t="t" l="l"/>
              <a:pathLst>
                <a:path h="367529" w="1914640">
                  <a:moveTo>
                    <a:pt x="0" y="0"/>
                  </a:moveTo>
                  <a:lnTo>
                    <a:pt x="1914640" y="0"/>
                  </a:lnTo>
                  <a:lnTo>
                    <a:pt x="1914640" y="367529"/>
                  </a:lnTo>
                  <a:lnTo>
                    <a:pt x="0" y="367529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914641" cy="38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8852514"/>
            <a:ext cx="7269651" cy="836295"/>
            <a:chOff x="0" y="0"/>
            <a:chExt cx="9692868" cy="111506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963"/>
              <a:ext cx="9692868" cy="1118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Boston:           in visit counts</a:t>
              </a:r>
            </a:p>
            <a:p>
              <a:pPr algn="l" marL="561342" indent="-280671" lvl="1">
                <a:lnSpc>
                  <a:spcPts val="3380"/>
                </a:lnSpc>
                <a:buFont typeface="Arial"/>
                <a:buChar char="•"/>
              </a:pPr>
              <a:r>
                <a:rPr lang="en-US" sz="2600" spc="6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Cambridge:            in visit counts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458230" y="-57150"/>
              <a:ext cx="308477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4B0E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-1.5%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821976" y="2011529"/>
            <a:ext cx="3683100" cy="6151315"/>
          </a:xfrm>
          <a:custGeom>
            <a:avLst/>
            <a:gdLst/>
            <a:ahLst/>
            <a:cxnLst/>
            <a:rect r="r" b="b" t="t" l="l"/>
            <a:pathLst>
              <a:path h="6151315" w="3683100">
                <a:moveTo>
                  <a:pt x="0" y="0"/>
                </a:moveTo>
                <a:lnTo>
                  <a:pt x="3683099" y="0"/>
                </a:lnTo>
                <a:lnTo>
                  <a:pt x="3683099" y="6151314"/>
                </a:lnTo>
                <a:lnTo>
                  <a:pt x="0" y="6151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29054" y="2053536"/>
            <a:ext cx="6051606" cy="6238769"/>
          </a:xfrm>
          <a:custGeom>
            <a:avLst/>
            <a:gdLst/>
            <a:ahLst/>
            <a:cxnLst/>
            <a:rect r="r" b="b" t="t" l="l"/>
            <a:pathLst>
              <a:path h="6238769" w="6051606">
                <a:moveTo>
                  <a:pt x="0" y="0"/>
                </a:moveTo>
                <a:lnTo>
                  <a:pt x="6051606" y="0"/>
                </a:lnTo>
                <a:lnTo>
                  <a:pt x="6051606" y="6238769"/>
                </a:lnTo>
                <a:lnTo>
                  <a:pt x="0" y="6238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43957" y="368257"/>
            <a:ext cx="14314343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Office buildings (Boston and Cambridge)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0149" y="9023964"/>
            <a:ext cx="799798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evidence of a</a:t>
            </a:r>
            <a:r>
              <a:rPr lang="en-US" sz="2600" spc="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tech‑workforce pullback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21976" y="9213512"/>
            <a:ext cx="231358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24B0E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+4.5%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2062" y="1656202"/>
            <a:ext cx="9543778" cy="5540961"/>
            <a:chOff x="0" y="0"/>
            <a:chExt cx="12725037" cy="7387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42859" cy="7387948"/>
            </a:xfrm>
            <a:custGeom>
              <a:avLst/>
              <a:gdLst/>
              <a:ahLst/>
              <a:cxnLst/>
              <a:rect r="r" b="b" t="t" l="l"/>
              <a:pathLst>
                <a:path h="7387948" w="12442859">
                  <a:moveTo>
                    <a:pt x="0" y="0"/>
                  </a:moveTo>
                  <a:lnTo>
                    <a:pt x="12442859" y="0"/>
                  </a:lnTo>
                  <a:lnTo>
                    <a:pt x="12442859" y="7387948"/>
                  </a:lnTo>
                  <a:lnTo>
                    <a:pt x="0" y="7387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0962574" y="1931510"/>
              <a:ext cx="2533893" cy="991034"/>
            </a:xfrm>
            <a:custGeom>
              <a:avLst/>
              <a:gdLst/>
              <a:ahLst/>
              <a:cxnLst/>
              <a:rect r="r" b="b" t="t" l="l"/>
              <a:pathLst>
                <a:path h="991034" w="2533893">
                  <a:moveTo>
                    <a:pt x="0" y="0"/>
                  </a:moveTo>
                  <a:lnTo>
                    <a:pt x="2533893" y="0"/>
                  </a:lnTo>
                  <a:lnTo>
                    <a:pt x="2533893" y="991034"/>
                  </a:lnTo>
                  <a:lnTo>
                    <a:pt x="0" y="99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2E5A8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746077"/>
            <a:ext cx="8176569" cy="7512223"/>
            <a:chOff x="0" y="0"/>
            <a:chExt cx="10902092" cy="100162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2092" cy="10016297"/>
            </a:xfrm>
            <a:custGeom>
              <a:avLst/>
              <a:gdLst/>
              <a:ahLst/>
              <a:cxnLst/>
              <a:rect r="r" b="b" t="t" l="l"/>
              <a:pathLst>
                <a:path h="10016297" w="10902092">
                  <a:moveTo>
                    <a:pt x="0" y="0"/>
                  </a:moveTo>
                  <a:lnTo>
                    <a:pt x="10902092" y="0"/>
                  </a:lnTo>
                  <a:lnTo>
                    <a:pt x="10902092" y="10016297"/>
                  </a:lnTo>
                  <a:lnTo>
                    <a:pt x="0" y="10016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802251" y="1040248"/>
              <a:ext cx="2792326" cy="1062567"/>
            </a:xfrm>
            <a:custGeom>
              <a:avLst/>
              <a:gdLst/>
              <a:ahLst/>
              <a:cxnLst/>
              <a:rect r="r" b="b" t="t" l="l"/>
              <a:pathLst>
                <a:path h="1062567" w="2792326">
                  <a:moveTo>
                    <a:pt x="0" y="0"/>
                  </a:moveTo>
                  <a:lnTo>
                    <a:pt x="2792326" y="0"/>
                  </a:lnTo>
                  <a:lnTo>
                    <a:pt x="2792326" y="1062566"/>
                  </a:lnTo>
                  <a:lnTo>
                    <a:pt x="0" y="1062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0" y="7411093"/>
            <a:ext cx="8063396" cy="812193"/>
            <a:chOff x="0" y="0"/>
            <a:chExt cx="2265115" cy="2281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5115" cy="228156"/>
            </a:xfrm>
            <a:custGeom>
              <a:avLst/>
              <a:gdLst/>
              <a:ahLst/>
              <a:cxnLst/>
              <a:rect r="r" b="b" t="t" l="l"/>
              <a:pathLst>
                <a:path h="228156" w="2265115">
                  <a:moveTo>
                    <a:pt x="0" y="0"/>
                  </a:moveTo>
                  <a:lnTo>
                    <a:pt x="2265115" y="0"/>
                  </a:lnTo>
                  <a:lnTo>
                    <a:pt x="2265115" y="228156"/>
                  </a:lnTo>
                  <a:lnTo>
                    <a:pt x="0" y="228156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65115" cy="285306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8461375"/>
            <a:ext cx="8063396" cy="1593850"/>
            <a:chOff x="0" y="0"/>
            <a:chExt cx="2123693" cy="4197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3693" cy="419779"/>
            </a:xfrm>
            <a:custGeom>
              <a:avLst/>
              <a:gdLst/>
              <a:ahLst/>
              <a:cxnLst/>
              <a:rect r="r" b="b" t="t" l="l"/>
              <a:pathLst>
                <a:path h="419779" w="2123693">
                  <a:moveTo>
                    <a:pt x="0" y="0"/>
                  </a:moveTo>
                  <a:lnTo>
                    <a:pt x="2123693" y="0"/>
                  </a:lnTo>
                  <a:lnTo>
                    <a:pt x="2123693" y="419779"/>
                  </a:lnTo>
                  <a:lnTo>
                    <a:pt x="0" y="419779"/>
                  </a:lnTo>
                  <a:close/>
                </a:path>
              </a:pathLst>
            </a:custGeom>
            <a:solidFill>
              <a:srgbClr val="24B0EC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23693" cy="43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43957" y="368257"/>
            <a:ext cx="10259918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39010" y="7489544"/>
            <a:ext cx="5145091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Overall, </a:t>
            </a:r>
            <a:r>
              <a:rPr lang="en-US" sz="2000" spc="48" b="true">
                <a:solidFill>
                  <a:srgbClr val="760101"/>
                </a:solidFill>
                <a:latin typeface="DM Sans Bold"/>
                <a:ea typeface="DM Sans Bold"/>
                <a:cs typeface="DM Sans Bold"/>
                <a:sym typeface="DM Sans Bold"/>
              </a:rPr>
              <a:t>a </a:t>
            </a:r>
            <a:r>
              <a:rPr lang="en-US" sz="2000" spc="48" b="true">
                <a:solidFill>
                  <a:srgbClr val="760101"/>
                </a:solidFill>
                <a:latin typeface="DM Sans Bold"/>
                <a:ea typeface="DM Sans Bold"/>
                <a:cs typeface="DM Sans Bold"/>
                <a:sym typeface="DM Sans Bold"/>
              </a:rPr>
              <a:t>“YES”</a:t>
            </a: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for the research question </a:t>
            </a:r>
          </a:p>
          <a:p>
            <a:pPr algn="l">
              <a:lnSpc>
                <a:spcPts val="2600"/>
              </a:lnSpc>
            </a:pP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</a:t>
            </a:r>
            <a:r>
              <a:rPr lang="en-US" sz="2000" spc="48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selectively </a:t>
            </a: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sz="2000" spc="48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moderately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08872" y="8537610"/>
            <a:ext cx="7852738" cy="162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Weak‑to‑moderate evidence of a targeted mobility shift:</a:t>
            </a:r>
          </a:p>
          <a:p>
            <a:pPr algn="l" marL="863601" indent="-287867" lvl="2">
              <a:lnSpc>
                <a:spcPts val="2600"/>
              </a:lnSpc>
              <a:buFont typeface="Arial"/>
              <a:buChar char="⚬"/>
            </a:pP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International‑linked channels softened, domestic and routine mobility stayed stable or strengthened </a:t>
            </a:r>
          </a:p>
          <a:p>
            <a:pPr algn="l">
              <a:lnSpc>
                <a:spcPts val="2600"/>
              </a:lnSpc>
            </a:pP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⇒ C</a:t>
            </a:r>
            <a:r>
              <a:rPr lang="en-US" sz="2000" spc="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onsistent with visa‑related uncertainty, but not definitive.</a:t>
            </a:r>
          </a:p>
          <a:p>
            <a:pPr algn="l">
              <a:lnSpc>
                <a:spcPts val="26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8060"/>
            <a:ext cx="18288000" cy="1824137"/>
            <a:chOff x="0" y="0"/>
            <a:chExt cx="4816593" cy="48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0431"/>
            </a:xfrm>
            <a:custGeom>
              <a:avLst/>
              <a:gdLst/>
              <a:ahLst/>
              <a:cxnLst/>
              <a:rect r="r" b="b" t="t" l="l"/>
              <a:pathLst>
                <a:path h="4804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0431"/>
                  </a:lnTo>
                  <a:lnTo>
                    <a:pt x="0" y="480431"/>
                  </a:lnTo>
                  <a:close/>
                </a:path>
              </a:pathLst>
            </a:custGeom>
            <a:solidFill>
              <a:srgbClr val="2E5A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54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82770" y="5855267"/>
            <a:ext cx="7388195" cy="55411"/>
          </a:xfrm>
          <a:custGeom>
            <a:avLst/>
            <a:gdLst/>
            <a:ahLst/>
            <a:cxnLst/>
            <a:rect r="r" b="b" t="t" l="l"/>
            <a:pathLst>
              <a:path h="55411" w="7388195">
                <a:moveTo>
                  <a:pt x="0" y="0"/>
                </a:moveTo>
                <a:lnTo>
                  <a:pt x="7388195" y="0"/>
                </a:lnTo>
                <a:lnTo>
                  <a:pt x="7388195" y="55412"/>
                </a:lnTo>
                <a:lnTo>
                  <a:pt x="0" y="55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9150" y="2131726"/>
            <a:ext cx="4477915" cy="3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b="true" sz="2227" spc="445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GENERAL LIMITATIONS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39150" y="1983581"/>
            <a:ext cx="4477915" cy="744544"/>
            <a:chOff x="0" y="0"/>
            <a:chExt cx="1740161" cy="28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0161" cy="289337"/>
            </a:xfrm>
            <a:custGeom>
              <a:avLst/>
              <a:gdLst/>
              <a:ahLst/>
              <a:cxnLst/>
              <a:rect r="r" b="b" t="t" l="l"/>
              <a:pathLst>
                <a:path h="289337" w="1740161">
                  <a:moveTo>
                    <a:pt x="0" y="0"/>
                  </a:moveTo>
                  <a:lnTo>
                    <a:pt x="1740161" y="0"/>
                  </a:lnTo>
                  <a:lnTo>
                    <a:pt x="1740161" y="289337"/>
                  </a:lnTo>
                  <a:lnTo>
                    <a:pt x="0" y="28933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40161" cy="356012"/>
            </a:xfrm>
            <a:prstGeom prst="rect">
              <a:avLst/>
            </a:prstGeom>
          </p:spPr>
          <p:txBody>
            <a:bodyPr anchor="ctr" rtlCol="false" tIns="43333" lIns="43333" bIns="43333" rIns="43333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33373" y="1983581"/>
            <a:ext cx="5410764" cy="744544"/>
            <a:chOff x="0" y="0"/>
            <a:chExt cx="2102675" cy="2893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2675" cy="289337"/>
            </a:xfrm>
            <a:custGeom>
              <a:avLst/>
              <a:gdLst/>
              <a:ahLst/>
              <a:cxnLst/>
              <a:rect r="r" b="b" t="t" l="l"/>
              <a:pathLst>
                <a:path h="289337" w="2102675">
                  <a:moveTo>
                    <a:pt x="0" y="0"/>
                  </a:moveTo>
                  <a:lnTo>
                    <a:pt x="2102675" y="0"/>
                  </a:lnTo>
                  <a:lnTo>
                    <a:pt x="2102675" y="289337"/>
                  </a:lnTo>
                  <a:lnTo>
                    <a:pt x="0" y="28933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02675" cy="356012"/>
            </a:xfrm>
            <a:prstGeom prst="rect">
              <a:avLst/>
            </a:prstGeom>
          </p:spPr>
          <p:txBody>
            <a:bodyPr anchor="ctr" rtlCol="false" tIns="43333" lIns="43333" bIns="43333" rIns="43333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43957" y="368257"/>
            <a:ext cx="4227079" cy="8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5533" spc="132">
                <a:solidFill>
                  <a:srgbClr val="F0B645"/>
                </a:solidFill>
                <a:latin typeface="DM Sans"/>
                <a:ea typeface="DM Sans"/>
                <a:cs typeface="DM Sans"/>
                <a:sym typeface="DM Sans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0285" y="425407"/>
            <a:ext cx="13568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913" b="true">
                <a:solidFill>
                  <a:srgbClr val="24B0E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8499" y="3623476"/>
            <a:ext cx="7050319" cy="42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760101"/>
                </a:solidFill>
                <a:latin typeface="DM Sans Bold"/>
                <a:ea typeface="DM Sans Bold"/>
                <a:cs typeface="DM Sans Bold"/>
                <a:sym typeface="DM Sans Bold"/>
              </a:rPr>
              <a:t>Only 2 months of data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cannot tell if the changes started before the policy or continued afterward.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760101"/>
                </a:solidFill>
                <a:latin typeface="DM Sans Bold"/>
                <a:ea typeface="DM Sans Bold"/>
                <a:cs typeface="DM Sans Bold"/>
                <a:sym typeface="DM Sans Bold"/>
              </a:rPr>
              <a:t>Cannot prove causation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~ other factors (economic, weather,...) could explain the same results.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760101"/>
                </a:solidFill>
                <a:latin typeface="DM Sans Bold"/>
                <a:ea typeface="DM Sans Bold"/>
                <a:cs typeface="DM Sans Bold"/>
                <a:sym typeface="DM Sans Bold"/>
              </a:rPr>
              <a:t>No comparison city</a:t>
            </a:r>
            <a:r>
              <a:rPr lang="en-US" sz="2700">
                <a:solidFill>
                  <a:srgbClr val="76010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~ Without a comparable city → cannot separate policy effects from national trends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72194" y="2131726"/>
            <a:ext cx="5371944" cy="3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b="true" sz="2227" spc="445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POI-SPECIFIC LIMITATIONS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16482" y="2966251"/>
            <a:ext cx="2872864" cy="408591"/>
            <a:chOff x="0" y="0"/>
            <a:chExt cx="807025" cy="114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7025" cy="114779"/>
            </a:xfrm>
            <a:custGeom>
              <a:avLst/>
              <a:gdLst/>
              <a:ahLst/>
              <a:cxnLst/>
              <a:rect r="r" b="b" t="t" l="l"/>
              <a:pathLst>
                <a:path h="114779" w="807025">
                  <a:moveTo>
                    <a:pt x="0" y="0"/>
                  </a:moveTo>
                  <a:lnTo>
                    <a:pt x="807025" y="0"/>
                  </a:lnTo>
                  <a:lnTo>
                    <a:pt x="807025" y="114779"/>
                  </a:lnTo>
                  <a:lnTo>
                    <a:pt x="0" y="114779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07025" cy="171929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16482" y="4387302"/>
            <a:ext cx="1797268" cy="425246"/>
            <a:chOff x="0" y="0"/>
            <a:chExt cx="504876" cy="1194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4876" cy="119457"/>
            </a:xfrm>
            <a:custGeom>
              <a:avLst/>
              <a:gdLst/>
              <a:ahLst/>
              <a:cxnLst/>
              <a:rect r="r" b="b" t="t" l="l"/>
              <a:pathLst>
                <a:path h="119457" w="504876">
                  <a:moveTo>
                    <a:pt x="0" y="0"/>
                  </a:moveTo>
                  <a:lnTo>
                    <a:pt x="504876" y="0"/>
                  </a:lnTo>
                  <a:lnTo>
                    <a:pt x="504876" y="119457"/>
                  </a:lnTo>
                  <a:lnTo>
                    <a:pt x="0" y="119457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04876" cy="176607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16482" y="5854889"/>
            <a:ext cx="2266117" cy="425246"/>
            <a:chOff x="0" y="0"/>
            <a:chExt cx="636582" cy="119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6582" cy="119457"/>
            </a:xfrm>
            <a:custGeom>
              <a:avLst/>
              <a:gdLst/>
              <a:ahLst/>
              <a:cxnLst/>
              <a:rect r="r" b="b" t="t" l="l"/>
              <a:pathLst>
                <a:path h="119457" w="636582">
                  <a:moveTo>
                    <a:pt x="0" y="0"/>
                  </a:moveTo>
                  <a:lnTo>
                    <a:pt x="636582" y="0"/>
                  </a:lnTo>
                  <a:lnTo>
                    <a:pt x="636582" y="119457"/>
                  </a:lnTo>
                  <a:lnTo>
                    <a:pt x="0" y="119457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36582" cy="176607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16482" y="7676148"/>
            <a:ext cx="3286554" cy="507984"/>
            <a:chOff x="0" y="0"/>
            <a:chExt cx="923237" cy="1426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37" cy="142699"/>
            </a:xfrm>
            <a:custGeom>
              <a:avLst/>
              <a:gdLst/>
              <a:ahLst/>
              <a:cxnLst/>
              <a:rect r="r" b="b" t="t" l="l"/>
              <a:pathLst>
                <a:path h="142699" w="923237">
                  <a:moveTo>
                    <a:pt x="0" y="0"/>
                  </a:moveTo>
                  <a:lnTo>
                    <a:pt x="923237" y="0"/>
                  </a:lnTo>
                  <a:lnTo>
                    <a:pt x="923237" y="142699"/>
                  </a:lnTo>
                  <a:lnTo>
                    <a:pt x="0" y="142699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23237" cy="199849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16482" y="8184132"/>
            <a:ext cx="3065919" cy="452825"/>
            <a:chOff x="0" y="0"/>
            <a:chExt cx="861257" cy="1272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1257" cy="127205"/>
            </a:xfrm>
            <a:custGeom>
              <a:avLst/>
              <a:gdLst/>
              <a:ahLst/>
              <a:cxnLst/>
              <a:rect r="r" b="b" t="t" l="l"/>
              <a:pathLst>
                <a:path h="127205" w="861257">
                  <a:moveTo>
                    <a:pt x="0" y="0"/>
                  </a:moveTo>
                  <a:lnTo>
                    <a:pt x="861257" y="0"/>
                  </a:lnTo>
                  <a:lnTo>
                    <a:pt x="861257" y="127205"/>
                  </a:lnTo>
                  <a:lnTo>
                    <a:pt x="0" y="127205"/>
                  </a:lnTo>
                  <a:close/>
                </a:path>
              </a:pathLst>
            </a:custGeom>
            <a:solidFill>
              <a:srgbClr val="F0B64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861257" cy="184355"/>
            </a:xfrm>
            <a:prstGeom prst="rect">
              <a:avLst/>
            </a:prstGeom>
          </p:spPr>
          <p:txBody>
            <a:bodyPr anchor="ctr" rtlCol="false" tIns="47628" lIns="47628" bIns="47628" rIns="47628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816482" y="2933050"/>
            <a:ext cx="8731582" cy="664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Logan Airport — serves both domestic and international routes → cannot tell which type declined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Amtrak — Northeast Corridor ridership was already rising due to national investment → hard to isolate policy effects.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MBTA Bus — only one bus stop; the Red Line subway (Kendall → Central → Harvard) is the more representative H-1B commuter route but is not available in our data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University dorms also include domestic students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Office Buildings — with roughly 1,490 office POIs across all industries → H-1B tech workers make up only a small fraction of the total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48616" y="4210526"/>
            <a:ext cx="7790768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b="true" sz="9600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8459076" y="5862161"/>
            <a:ext cx="1097107" cy="0"/>
          </a:xfrm>
          <a:prstGeom prst="line">
            <a:avLst/>
          </a:prstGeom>
          <a:ln cap="flat" w="47625">
            <a:solidFill>
              <a:srgbClr val="7601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DAHId2UkmJo</dc:identifier>
  <dcterms:modified xsi:type="dcterms:W3CDTF">2011-08-01T06:04:30Z</dcterms:modified>
  <cp:revision>1</cp:revision>
  <dc:title>BUS 240F - Tableau Project</dc:title>
</cp:coreProperties>
</file>